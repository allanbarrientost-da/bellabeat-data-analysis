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C6B"/>
    <a:srgbClr val="252923"/>
    <a:srgbClr val="F5F2EA"/>
    <a:srgbClr val="E8E6DC"/>
    <a:srgbClr val="DCD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9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CA57F-245A-42FD-8785-22687F1D66FD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60B13-A6F1-461A-AB6C-1AE41FB335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597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1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calidad y cobertura de los registros se revisaron antes del análisis. La cantidad de días disponibles varía entre usuarios y se identificaron registros que requieren cautela interpretativa.</a:t>
            </a:r>
            <a:endParaRPr lang="es-MX" sz="11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60B13-A6F1-461A-AB6C-1AE41FB335D4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3502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27746-A458-240D-B6AC-B0AAB2113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 dirty="0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F9DB25-9937-7795-126A-2352E3271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5EEF85-A041-7865-5146-936F35FB7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3DF-CDD4-433D-9B24-1765991A1922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F72C17-5820-03B7-F754-F28E35C6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AFC513-8C75-9672-8C26-609F8239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ABE4-9FE3-4A3C-ABE6-2BC22AB176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053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DAAAC-4FA0-7542-AE83-1632A105A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60532F-A9B1-4250-441D-40E6545BE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36525"/>
            <a:ext cx="8945880" cy="17413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63558A-9767-636F-C55C-02CD9233B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3DF-CDD4-433D-9B24-1765991A1922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408881-C85A-780D-45D9-A336824C3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FA5DE3-E822-6D0D-9A66-F457D908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ABE4-9FE3-4A3C-ABE6-2BC22AB176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3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5DE80-4EEA-A739-F854-C1A5C2885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CA1CCF-71DB-5210-EB82-FC906F171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3E18A1-7B59-A7EE-6DF7-20BC8B917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3DF-CDD4-433D-9B24-1765991A1922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2FA36F-A6B2-D05A-8A4A-AF66ED31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60354-E5E0-D71B-C49E-BFDA7131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ABE4-9FE3-4A3C-ABE6-2BC22AB176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6974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C1CFB-49E6-7AA9-DD34-2B7CB3BAE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FA84BC-8454-B055-F6D5-55C470BD7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9CA675-AD55-F993-74E6-48FEF919D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90A76E-F90F-BCD6-9B07-D182742E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3DF-CDD4-433D-9B24-1765991A1922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C9B0A5-727E-6C2F-FEF5-C87C373B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AE1D77-AB1D-E4C4-0DBB-F8983057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ABE4-9FE3-4A3C-ABE6-2BC22AB176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5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6F696-4B87-7155-4F15-D208C4E03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411339-0F1C-8B84-8040-FD02D8EBD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D2990D-967A-3B67-A89A-DA617FADD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2339B7-8B88-43A6-9F8D-2710149F8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18AE73-B77C-ECC2-A877-189A7DD3B6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5693C87-7760-69B3-01A8-CBCA495E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3DF-CDD4-433D-9B24-1765991A1922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EFDEC9C-F787-2462-20A9-EC0BFDC2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25A2EC3-43C2-8A89-AF6B-39743BCE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ABE4-9FE3-4A3C-ABE6-2BC22AB176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060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64E3A-2807-18FC-AE72-5EE81F99C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09E5AA1-A7AE-F29D-E384-AA69AE8AA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3DF-CDD4-433D-9B24-1765991A1922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5B4D2C-ED5B-22FE-B370-FAFF9952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2837D0-4673-28F9-7F05-CD754279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ABE4-9FE3-4A3C-ABE6-2BC22AB176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3045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27589F8-9EC5-FCEC-66CB-022F12BB5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3DF-CDD4-433D-9B24-1765991A1922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184BD1-A43E-7E03-BC66-9A13CB6F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4C8FE4-58A1-71FE-B4F3-306EEB088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ABE4-9FE3-4A3C-ABE6-2BC22AB176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2553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F6057-C94B-0AD3-9BF4-5E81A484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C01626-BB9E-4A85-C97C-2A7BE7591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0586F9-9852-DEB7-9BF6-6F17A8C5D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5ECA32-57B8-62EB-ECFA-ECF82E69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3DF-CDD4-433D-9B24-1765991A1922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A6FD43-4F8B-3A47-5BA7-E3497C5F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8D08CA-70A9-4373-99DC-B532022A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ABE4-9FE3-4A3C-ABE6-2BC22AB176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9300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6F53B-6D71-54D9-7593-CE76FE2D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35B73C0-A6CB-2E31-B9D4-7017366DA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89B9EB-7D2F-13FD-B889-5AE0D0013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E90E56-E69A-9062-4F38-AD8B88EBF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3DF-CDD4-433D-9B24-1765991A1922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B68C53-473D-545A-D4F7-C6E462DF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900102-DC6F-03E6-08BC-E78609E3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ABE4-9FE3-4A3C-ABE6-2BC22AB176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614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62F54-337B-EC86-3ED9-1B38C60B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B5F1BE-6DAC-909D-94DC-068F71722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89560" y="136525"/>
            <a:ext cx="8945880" cy="174132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42037A-5237-F2BA-8504-0C372559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3DF-CDD4-433D-9B24-1765991A1922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BD951C-F376-1A65-C8F2-B1249BDF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7EFF12-E0D3-6FC9-A1A0-BACA8B523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ABE4-9FE3-4A3C-ABE6-2BC22AB176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3101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0201C0-9475-C757-32A0-6132DD44A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BFB642-6F4E-F1E4-0488-DE65DCBF1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1530F7-83A8-681C-6CD5-F85F0C5E9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3DF-CDD4-433D-9B24-1765991A1922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4A8F50-3A68-39CD-B419-E7FD926C6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45BBF2-4CC3-8B83-5635-54AA24209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ABE4-9FE3-4A3C-ABE6-2BC22AB176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006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61E4A4-9D70-78F4-EBF2-FD024F8CD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47FCB3DF-CDD4-433D-9B24-1765991A1922}" type="datetimeFigureOut">
              <a:rPr lang="es-MX" smtClean="0"/>
              <a:pPr/>
              <a:t>14/10/2026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1BFF15-2644-6A12-3A4C-7C19DF381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6B18E6-80B4-8B7F-3289-89558BBA3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MX" dirty="0"/>
              <a:t>01/09</a:t>
            </a:r>
          </a:p>
        </p:txBody>
      </p:sp>
    </p:spTree>
    <p:extLst>
      <p:ext uri="{BB962C8B-B14F-4D97-AF65-F5344CB8AC3E}">
        <p14:creationId xmlns:p14="http://schemas.microsoft.com/office/powerpoint/2010/main" val="167376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100" kern="1200">
          <a:solidFill>
            <a:srgbClr val="667C6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E4E7EFE-115E-A314-6EE6-A3B89B94D712}"/>
              </a:ext>
            </a:extLst>
          </p:cNvPr>
          <p:cNvSpPr txBox="1"/>
          <p:nvPr/>
        </p:nvSpPr>
        <p:spPr>
          <a:xfrm>
            <a:off x="210457" y="145143"/>
            <a:ext cx="1177108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ANALYSIS </a:t>
            </a:r>
            <a:r>
              <a:rPr lang="es-MX" sz="240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CASE STUDY 01</a:t>
            </a:r>
          </a:p>
          <a:p>
            <a:endParaRPr lang="es-MX" sz="2400" dirty="0">
              <a:solidFill>
                <a:srgbClr val="667C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400" dirty="0">
              <a:solidFill>
                <a:srgbClr val="667C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BIENESTAR </a:t>
            </a:r>
            <a:r>
              <a:rPr lang="es-MX" sz="240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TECNOLOGÍA · COMPORTAMIENTO</a:t>
            </a:r>
          </a:p>
          <a:p>
            <a:r>
              <a:rPr lang="es-ES" sz="5400" dirty="0" err="1">
                <a:solidFill>
                  <a:srgbClr val="252923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BellaBeat</a:t>
            </a:r>
            <a:endParaRPr lang="es-ES" sz="5400" dirty="0">
              <a:solidFill>
                <a:srgbClr val="252923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  <a:p>
            <a:endParaRPr lang="es-ES" sz="4000" dirty="0">
              <a:solidFill>
                <a:srgbClr val="2529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4000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Descubriendo patrones de actividad cotidiana</a:t>
            </a:r>
          </a:p>
          <a:p>
            <a:endParaRPr lang="es-ES" sz="4000" dirty="0">
              <a:solidFill>
                <a:srgbClr val="2529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 de datos y recomendaciones estratégicas para el crecimiento y la experiencia del usuario</a:t>
            </a:r>
          </a:p>
          <a:p>
            <a:endParaRPr lang="es-ES" sz="3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Proyecto de análisis de datos </a:t>
            </a:r>
          </a:p>
          <a:p>
            <a:r>
              <a:rPr lang="es-ES" sz="20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Fitbit Fitness Tracker Data </a:t>
            </a:r>
            <a:r>
              <a:rPr lang="es-MX" sz="2000" kern="1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· 2016</a:t>
            </a:r>
            <a:endParaRPr lang="es-ES" sz="2000" kern="12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9500F65-6C69-06B3-B455-FCE59DE68493}"/>
              </a:ext>
            </a:extLst>
          </p:cNvPr>
          <p:cNvSpPr txBox="1"/>
          <p:nvPr/>
        </p:nvSpPr>
        <p:spPr>
          <a:xfrm>
            <a:off x="6019801" y="6305079"/>
            <a:ext cx="587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01/10</a:t>
            </a:r>
            <a:endParaRPr lang="es-MX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225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04059-CC57-5A7D-40C1-45DFEFB0B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28132"/>
          </a:xfrm>
        </p:spPr>
        <p:txBody>
          <a:bodyPr/>
          <a:lstStyle/>
          <a:p>
            <a:r>
              <a:rPr lang="es-ES" sz="120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02-CONTEXTO							BELLABEAT</a:t>
            </a:r>
            <a:r>
              <a:rPr lang="es-MX" sz="120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· DATA ANALYSYS</a:t>
            </a:r>
            <a:br>
              <a:rPr lang="es-MX" sz="120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105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105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3200" dirty="0">
                <a:solidFill>
                  <a:srgbClr val="667C6B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s-ES" sz="3200" dirty="0">
                <a:latin typeface="Georgia" panose="02040502050405020303" pitchFamily="18" charset="0"/>
              </a:rPr>
              <a:t>El reto empresarial</a:t>
            </a:r>
            <a:br>
              <a:rPr lang="es-ES" sz="4000" dirty="0"/>
            </a:br>
            <a:r>
              <a:rPr lang="es-ES" sz="2400" dirty="0">
                <a:solidFill>
                  <a:srgbClr val="667C6B"/>
                </a:solidFill>
              </a:rPr>
              <a:t>Convertir datos de actividad en oportunidades de crecimiento.</a:t>
            </a:r>
            <a:r>
              <a:rPr lang="es-ES" dirty="0"/>
              <a:t>	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7A2F2D-2108-623E-5DD2-A7CB884A9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609169"/>
            <a:ext cx="5181600" cy="3883706"/>
          </a:xfrm>
        </p:spPr>
        <p:txBody>
          <a:bodyPr/>
          <a:lstStyle/>
          <a:p>
            <a:r>
              <a:rPr lang="es-ES" sz="2400" dirty="0">
                <a:solidFill>
                  <a:srgbClr val="252923"/>
                </a:solidFill>
                <a:latin typeface="Georgia" panose="02040502050405020303" pitchFamily="18" charset="0"/>
              </a:rPr>
              <a:t>El desafío</a:t>
            </a:r>
          </a:p>
          <a:p>
            <a:endParaRPr lang="es-ES" sz="18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s-ES" sz="1800" dirty="0">
                <a:solidFill>
                  <a:schemeClr val="bg2">
                    <a:lumMod val="25000"/>
                  </a:schemeClr>
                </a:solidFill>
              </a:rPr>
              <a:t>Comprender cómo las personas utilizan los dispositivos inteligentes para registrar su actividad cotidiana.</a:t>
            </a:r>
            <a:endParaRPr lang="es-MX" sz="1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0B4772-75FD-59E5-8F04-D96E57157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609169"/>
            <a:ext cx="5181600" cy="3883706"/>
          </a:xfrm>
        </p:spPr>
        <p:txBody>
          <a:bodyPr/>
          <a:lstStyle/>
          <a:p>
            <a:r>
              <a:rPr lang="es-ES" sz="2400" dirty="0">
                <a:solidFill>
                  <a:srgbClr val="252923"/>
                </a:solidFill>
                <a:latin typeface="Georgia" panose="02040502050405020303" pitchFamily="18" charset="0"/>
              </a:rPr>
              <a:t>La oportunidad</a:t>
            </a:r>
          </a:p>
          <a:p>
            <a:endParaRPr lang="es-ES" sz="18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s-ES" sz="1800" dirty="0">
                <a:solidFill>
                  <a:schemeClr val="bg2">
                    <a:lumMod val="25000"/>
                  </a:schemeClr>
                </a:solidFill>
              </a:rPr>
              <a:t>Identificar patrones que orienten estrategias de marketing y experiencias de usuario más relevantes.</a:t>
            </a:r>
            <a:endParaRPr lang="es-MX" sz="1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31EC721-A707-CB93-D15A-8AF341CDD91C}"/>
              </a:ext>
            </a:extLst>
          </p:cNvPr>
          <p:cNvSpPr txBox="1"/>
          <p:nvPr/>
        </p:nvSpPr>
        <p:spPr>
          <a:xfrm>
            <a:off x="1245868" y="4551022"/>
            <a:ext cx="8465820" cy="1261884"/>
          </a:xfrm>
          <a:prstGeom prst="rect">
            <a:avLst/>
          </a:prstGeom>
          <a:solidFill>
            <a:srgbClr val="DCD8CE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67C6B"/>
                </a:solidFill>
                <a:latin typeface="Georgia" panose="02040502050405020303" pitchFamily="18" charset="0"/>
              </a:rPr>
              <a:t>PREGUNTA DE NEGOCIO</a:t>
            </a:r>
          </a:p>
          <a:p>
            <a:endParaRPr lang="es-ES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s-ES" sz="2000" dirty="0">
                <a:solidFill>
                  <a:schemeClr val="bg2">
                    <a:lumMod val="25000"/>
                  </a:schemeClr>
                </a:solidFill>
              </a:rPr>
              <a:t>¿Cómo pueden los patrones de actividad ayudar a </a:t>
            </a:r>
            <a:r>
              <a:rPr lang="es-ES" sz="2000" dirty="0" err="1">
                <a:solidFill>
                  <a:schemeClr val="bg2">
                    <a:lumMod val="25000"/>
                  </a:schemeClr>
                </a:solidFill>
              </a:rPr>
              <a:t>BellaBeat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</a:rPr>
              <a:t> a atraer clientes y fomentar la participación?</a:t>
            </a:r>
            <a:endParaRPr lang="es-MX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204D5BE-4E9C-0E43-702A-FE074204212F}"/>
              </a:ext>
            </a:extLst>
          </p:cNvPr>
          <p:cNvCxnSpPr>
            <a:cxnSpLocks/>
          </p:cNvCxnSpPr>
          <p:nvPr/>
        </p:nvCxnSpPr>
        <p:spPr>
          <a:xfrm>
            <a:off x="838201" y="2296386"/>
            <a:ext cx="2590800" cy="0"/>
          </a:xfrm>
          <a:prstGeom prst="line">
            <a:avLst/>
          </a:prstGeom>
          <a:ln>
            <a:solidFill>
              <a:srgbClr val="667C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3D72FA5-E37F-82A1-17C5-EEF0443CBF68}"/>
              </a:ext>
            </a:extLst>
          </p:cNvPr>
          <p:cNvCxnSpPr/>
          <p:nvPr/>
        </p:nvCxnSpPr>
        <p:spPr>
          <a:xfrm>
            <a:off x="6019801" y="2293257"/>
            <a:ext cx="2590800" cy="0"/>
          </a:xfrm>
          <a:prstGeom prst="line">
            <a:avLst/>
          </a:prstGeom>
          <a:ln>
            <a:solidFill>
              <a:srgbClr val="667C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226E046B-D153-BB30-25DD-4290D27382A3}"/>
              </a:ext>
            </a:extLst>
          </p:cNvPr>
          <p:cNvSpPr txBox="1"/>
          <p:nvPr/>
        </p:nvSpPr>
        <p:spPr>
          <a:xfrm>
            <a:off x="297180" y="6308209"/>
            <a:ext cx="587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comportamiento observado a las decisiones estratégicas</a:t>
            </a:r>
            <a:endParaRPr lang="es-MX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63E2C8E-58E3-9EA4-6006-FDB026677343}"/>
              </a:ext>
            </a:extLst>
          </p:cNvPr>
          <p:cNvSpPr txBox="1"/>
          <p:nvPr/>
        </p:nvSpPr>
        <p:spPr>
          <a:xfrm>
            <a:off x="6019801" y="6305079"/>
            <a:ext cx="587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02/10</a:t>
            </a:r>
            <a:endParaRPr lang="es-MX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177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C2A36958-8065-552C-51C2-DB3DAAA67F75}"/>
              </a:ext>
            </a:extLst>
          </p:cNvPr>
          <p:cNvSpPr/>
          <p:nvPr/>
        </p:nvSpPr>
        <p:spPr>
          <a:xfrm>
            <a:off x="6377940" y="4076046"/>
            <a:ext cx="5440680" cy="1509118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7A718C2C-EDA8-4C68-DD35-07D7D9E89388}"/>
              </a:ext>
            </a:extLst>
          </p:cNvPr>
          <p:cNvSpPr/>
          <p:nvPr/>
        </p:nvSpPr>
        <p:spPr>
          <a:xfrm>
            <a:off x="6377940" y="2275821"/>
            <a:ext cx="5440680" cy="1509118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4218EB13-7ABE-10FA-8225-43C2AF6330A7}"/>
              </a:ext>
            </a:extLst>
          </p:cNvPr>
          <p:cNvSpPr/>
          <p:nvPr/>
        </p:nvSpPr>
        <p:spPr>
          <a:xfrm>
            <a:off x="655320" y="2267247"/>
            <a:ext cx="5440680" cy="1509118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9B67582-B022-E977-A2C4-3D8CB504F690}"/>
              </a:ext>
            </a:extLst>
          </p:cNvPr>
          <p:cNvSpPr txBox="1"/>
          <p:nvPr/>
        </p:nvSpPr>
        <p:spPr>
          <a:xfrm>
            <a:off x="655320" y="320040"/>
            <a:ext cx="1088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rgbClr val="667C6B"/>
                </a:solidFill>
              </a:rPr>
              <a:t>03 – FUENTE Y PREPARACIÓN                                                                                                      BELLABEAT ▪ DATA ANALYSIS</a:t>
            </a:r>
            <a:endParaRPr lang="es-MX" dirty="0">
              <a:solidFill>
                <a:srgbClr val="667C6B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38CDFF-6F1B-98E3-BFE2-C52E531417C6}"/>
              </a:ext>
            </a:extLst>
          </p:cNvPr>
          <p:cNvSpPr txBox="1"/>
          <p:nvPr/>
        </p:nvSpPr>
        <p:spPr>
          <a:xfrm>
            <a:off x="655320" y="956548"/>
            <a:ext cx="8511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Georgia" panose="02040502050405020303" pitchFamily="18" charset="0"/>
              </a:rPr>
              <a:t>Los datos detrás del análisis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Actividad cotidiana registrada mediante dispositivos Fitbit.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4E32EA-1C10-BF6B-2E51-25695A452528}"/>
              </a:ext>
            </a:extLst>
          </p:cNvPr>
          <p:cNvSpPr txBox="1"/>
          <p:nvPr/>
        </p:nvSpPr>
        <p:spPr>
          <a:xfrm>
            <a:off x="937260" y="2343329"/>
            <a:ext cx="4823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Georgia" panose="02040502050405020303" pitchFamily="18" charset="0"/>
              </a:rPr>
              <a:t>1,373</a:t>
            </a:r>
          </a:p>
          <a:p>
            <a:r>
              <a:rPr lang="es-ES" sz="2800" dirty="0">
                <a:solidFill>
                  <a:schemeClr val="bg2">
                    <a:lumMod val="50000"/>
                  </a:schemeClr>
                </a:solidFill>
              </a:rPr>
              <a:t>Registros diarios</a:t>
            </a:r>
            <a:endParaRPr lang="es-MX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BCCB97B-23BF-ADBB-6893-51586C823727}"/>
              </a:ext>
            </a:extLst>
          </p:cNvPr>
          <p:cNvSpPr txBox="1"/>
          <p:nvPr/>
        </p:nvSpPr>
        <p:spPr>
          <a:xfrm>
            <a:off x="6713220" y="2343328"/>
            <a:ext cx="4823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Georgia" panose="02040502050405020303" pitchFamily="18" charset="0"/>
              </a:rPr>
              <a:t>35</a:t>
            </a:r>
          </a:p>
          <a:p>
            <a:r>
              <a:rPr lang="es-ES" sz="2800" dirty="0">
                <a:solidFill>
                  <a:schemeClr val="bg2">
                    <a:lumMod val="50000"/>
                  </a:schemeClr>
                </a:solidFill>
              </a:rPr>
              <a:t>Identificadores de usuario</a:t>
            </a:r>
            <a:endParaRPr lang="es-MX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57A77BA-76DC-59A5-BB79-0F9388A8B89D}"/>
              </a:ext>
            </a:extLst>
          </p:cNvPr>
          <p:cNvSpPr/>
          <p:nvPr/>
        </p:nvSpPr>
        <p:spPr>
          <a:xfrm>
            <a:off x="655320" y="4076046"/>
            <a:ext cx="5440680" cy="1509118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A6DDB1-A9A9-FBC9-A0EA-74E92E044443}"/>
              </a:ext>
            </a:extLst>
          </p:cNvPr>
          <p:cNvSpPr txBox="1"/>
          <p:nvPr/>
        </p:nvSpPr>
        <p:spPr>
          <a:xfrm>
            <a:off x="937260" y="4151590"/>
            <a:ext cx="4823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Georgia" panose="02040502050405020303" pitchFamily="18" charset="0"/>
              </a:rPr>
              <a:t>15</a:t>
            </a:r>
          </a:p>
          <a:p>
            <a:r>
              <a:rPr lang="es-ES" sz="2800" dirty="0">
                <a:solidFill>
                  <a:schemeClr val="bg2">
                    <a:lumMod val="50000"/>
                  </a:schemeClr>
                </a:solidFill>
              </a:rPr>
              <a:t>Columnas sin valores faltantes</a:t>
            </a:r>
            <a:endParaRPr lang="es-MX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F9C630E-0CAF-41B0-2239-47B35368A19E}"/>
              </a:ext>
            </a:extLst>
          </p:cNvPr>
          <p:cNvSpPr txBox="1"/>
          <p:nvPr/>
        </p:nvSpPr>
        <p:spPr>
          <a:xfrm>
            <a:off x="6686550" y="4270355"/>
            <a:ext cx="4823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Georgia" panose="02040502050405020303" pitchFamily="18" charset="0"/>
              </a:rPr>
              <a:t>62 días</a:t>
            </a:r>
          </a:p>
          <a:p>
            <a:r>
              <a:rPr lang="es-ES" sz="2800" dirty="0">
                <a:solidFill>
                  <a:schemeClr val="bg2">
                    <a:lumMod val="50000"/>
                  </a:schemeClr>
                </a:solidFill>
              </a:rPr>
              <a:t>Periodo global observado</a:t>
            </a:r>
            <a:endParaRPr lang="es-MX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5AB5088-DB47-CD9C-D17E-95A8A2455B86}"/>
              </a:ext>
            </a:extLst>
          </p:cNvPr>
          <p:cNvSpPr txBox="1"/>
          <p:nvPr/>
        </p:nvSpPr>
        <p:spPr>
          <a:xfrm>
            <a:off x="411479" y="5901452"/>
            <a:ext cx="58750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</a:t>
            </a:r>
          </a:p>
          <a:p>
            <a:r>
              <a:rPr lang="es-ES" sz="1600" dirty="0" err="1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FitBit</a:t>
            </a:r>
            <a:r>
              <a:rPr lang="es-ES" sz="160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Fitness Tracker Data ▪ </a:t>
            </a:r>
            <a:r>
              <a:rPr lang="es-ES" sz="1600" dirty="0" err="1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r>
              <a:rPr lang="es-ES" sz="160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s-ES" sz="1600" dirty="0" err="1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Mobius</a:t>
            </a:r>
            <a:endParaRPr lang="es-ES" sz="1600" dirty="0">
              <a:solidFill>
                <a:srgbClr val="667C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Periodo observado: 12 de marzo – 12 de mayo 2016</a:t>
            </a:r>
            <a:endParaRPr lang="es-MX" sz="1600" dirty="0">
              <a:solidFill>
                <a:srgbClr val="667C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00EF061-94D5-D0CC-EBFD-D60643FCB95F}"/>
              </a:ext>
            </a:extLst>
          </p:cNvPr>
          <p:cNvSpPr txBox="1"/>
          <p:nvPr/>
        </p:nvSpPr>
        <p:spPr>
          <a:xfrm>
            <a:off x="6019801" y="6305079"/>
            <a:ext cx="587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03/10</a:t>
            </a:r>
            <a:endParaRPr lang="es-MX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942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DFFAD0F-5D61-C1FF-1ECE-09D7C62FDB14}"/>
              </a:ext>
            </a:extLst>
          </p:cNvPr>
          <p:cNvSpPr txBox="1"/>
          <p:nvPr/>
        </p:nvSpPr>
        <p:spPr>
          <a:xfrm>
            <a:off x="640080" y="937260"/>
            <a:ext cx="110419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>
                <a:solidFill>
                  <a:srgbClr val="252923"/>
                </a:solidFill>
                <a:latin typeface="Georgia" panose="02040502050405020303" pitchFamily="18" charset="0"/>
              </a:rPr>
              <a:t>La actividad ligera domina el movimiento diario</a:t>
            </a:r>
          </a:p>
          <a:p>
            <a:r>
              <a:rPr lang="es-ES" sz="2000" dirty="0">
                <a:solidFill>
                  <a:schemeClr val="bg2">
                    <a:lumMod val="25000"/>
                  </a:schemeClr>
                </a:solidFill>
              </a:rPr>
              <a:t>Los registros muestran una mayor presencia de actividad ligera frente a la actividad moderada e intensa.</a:t>
            </a:r>
            <a:endParaRPr lang="es-MX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9B1CFB-FCA2-1565-33B1-B291617AEE87}"/>
              </a:ext>
            </a:extLst>
          </p:cNvPr>
          <p:cNvSpPr txBox="1"/>
          <p:nvPr/>
        </p:nvSpPr>
        <p:spPr>
          <a:xfrm>
            <a:off x="7347204" y="2148840"/>
            <a:ext cx="456285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Georgia" panose="02040502050405020303" pitchFamily="18" charset="0"/>
              </a:rPr>
              <a:t>HALLAZGO PRINCIPAL</a:t>
            </a:r>
          </a:p>
          <a:p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actividad registra un promedio de </a:t>
            </a:r>
            <a:r>
              <a:rPr lang="es-ES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 minutos </a:t>
            </a: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diarios, muy por encima de la actividad moderada (13.6 minutos) y la actividad muy activa (19.9 minutos).</a:t>
            </a:r>
          </a:p>
          <a:p>
            <a:endParaRPr lang="es-ES" dirty="0"/>
          </a:p>
          <a:p>
            <a:r>
              <a:rPr lang="es-ES" dirty="0">
                <a:latin typeface="Georgia" panose="02040502050405020303" pitchFamily="18" charset="0"/>
              </a:rPr>
              <a:t>¿QUÉ SIGNIFICA PARA BELLABEAT?</a:t>
            </a:r>
          </a:p>
          <a:p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datos sugieren una oportunidad para promover el movimiento cotidiano mediante objetivos personalizados, seguimiento del progreso y recordatorios flexibles que ayuden a incorporar más actividad a la rutina diaria.</a:t>
            </a:r>
            <a:endParaRPr lang="es-MX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98AF899-E61C-BC89-C22C-3EFCED2F351C}"/>
              </a:ext>
            </a:extLst>
          </p:cNvPr>
          <p:cNvSpPr txBox="1"/>
          <p:nvPr/>
        </p:nvSpPr>
        <p:spPr>
          <a:xfrm>
            <a:off x="6019801" y="6305079"/>
            <a:ext cx="587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04/10</a:t>
            </a:r>
            <a:endParaRPr lang="es-MX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33FDA27-9B84-57DB-B735-31D5CB70E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" y="2122973"/>
            <a:ext cx="7110898" cy="395049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01F5AED-B3A9-F06F-8E85-951E5D55222C}"/>
              </a:ext>
            </a:extLst>
          </p:cNvPr>
          <p:cNvCxnSpPr>
            <a:cxnSpLocks/>
          </p:cNvCxnSpPr>
          <p:nvPr/>
        </p:nvCxnSpPr>
        <p:spPr>
          <a:xfrm>
            <a:off x="8884921" y="2122973"/>
            <a:ext cx="2590800" cy="0"/>
          </a:xfrm>
          <a:prstGeom prst="line">
            <a:avLst/>
          </a:prstGeom>
          <a:ln>
            <a:solidFill>
              <a:srgbClr val="667C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7E7F9E1D-63D5-5B66-6355-C3CD5D613591}"/>
              </a:ext>
            </a:extLst>
          </p:cNvPr>
          <p:cNvSpPr txBox="1"/>
          <p:nvPr/>
        </p:nvSpPr>
        <p:spPr>
          <a:xfrm>
            <a:off x="655320" y="320040"/>
            <a:ext cx="1088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rgbClr val="667C6B"/>
                </a:solidFill>
              </a:rPr>
              <a:t>04 – TIPOS DE ACTIVIDAD                                                                                                             BELLABEAT ▪ DATA ANALYSIS</a:t>
            </a:r>
            <a:endParaRPr lang="es-MX" dirty="0">
              <a:solidFill>
                <a:srgbClr val="667C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28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EA2107B-9025-2602-FE07-78F548179DC3}"/>
              </a:ext>
            </a:extLst>
          </p:cNvPr>
          <p:cNvSpPr txBox="1"/>
          <p:nvPr/>
        </p:nvSpPr>
        <p:spPr>
          <a:xfrm>
            <a:off x="480060" y="571500"/>
            <a:ext cx="10629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latin typeface="Georgia" panose="02040502050405020303" pitchFamily="18" charset="0"/>
              </a:rPr>
              <a:t>Más pasos, más calorías registradas</a:t>
            </a:r>
            <a:endParaRPr lang="es-ES" sz="4000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observa una asociación positiva entre el movimiento diario y el gasto energético registrado.</a:t>
            </a:r>
            <a:endParaRPr lang="es-MX" sz="2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FEA5A7-4EBA-86B4-8792-994429198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0" y="2018050"/>
            <a:ext cx="6503670" cy="390220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3F1E877-29DF-8FF3-F6E3-B143B59E31DF}"/>
              </a:ext>
            </a:extLst>
          </p:cNvPr>
          <p:cNvSpPr txBox="1"/>
          <p:nvPr/>
        </p:nvSpPr>
        <p:spPr>
          <a:xfrm>
            <a:off x="480060" y="2153057"/>
            <a:ext cx="38176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Georgia" panose="02040502050405020303" pitchFamily="18" charset="0"/>
              </a:rPr>
              <a:t>HALLAZGO PRINCIPAL</a:t>
            </a:r>
            <a:endParaRPr lang="es-ES" dirty="0">
              <a:solidFill>
                <a:srgbClr val="252923"/>
              </a:solidFill>
              <a:latin typeface="Georgia" panose="02040502050405020303" pitchFamily="18" charset="0"/>
            </a:endParaRPr>
          </a:p>
          <a:p>
            <a:r>
              <a:rPr lang="es-ES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correlación entre pasos y calorías registradas es de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r= 0.58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 que indica una asociación positiva moderada.</a:t>
            </a:r>
          </a:p>
          <a:p>
            <a:endParaRPr lang="es-ES" dirty="0"/>
          </a:p>
          <a:p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</a:rPr>
              <a:t>¿QUÉ SIGNIFICA PARA BELLABEAT?</a:t>
            </a:r>
          </a:p>
          <a:p>
            <a:r>
              <a:rPr lang="es-ES" dirty="0">
                <a:solidFill>
                  <a:srgbClr val="252923"/>
                </a:solidFill>
              </a:rPr>
              <a:t>El seguimiento de pasos podría complementarse con visualizaciones del gasto energético registrado para ayudar a las personas a comprender sus patrones diarios de actividad y progreso.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5B22CF-814F-D94C-31A6-760E37B5746F}"/>
              </a:ext>
            </a:extLst>
          </p:cNvPr>
          <p:cNvSpPr txBox="1"/>
          <p:nvPr/>
        </p:nvSpPr>
        <p:spPr>
          <a:xfrm>
            <a:off x="6019801" y="6305079"/>
            <a:ext cx="587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05/10</a:t>
            </a:r>
            <a:endParaRPr lang="es-MX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451A32E-4DF0-89DC-8FE6-56EBB2FFE132}"/>
              </a:ext>
            </a:extLst>
          </p:cNvPr>
          <p:cNvCxnSpPr>
            <a:cxnSpLocks/>
          </p:cNvCxnSpPr>
          <p:nvPr/>
        </p:nvCxnSpPr>
        <p:spPr>
          <a:xfrm>
            <a:off x="480060" y="2074156"/>
            <a:ext cx="2590800" cy="0"/>
          </a:xfrm>
          <a:prstGeom prst="line">
            <a:avLst/>
          </a:prstGeom>
          <a:ln>
            <a:solidFill>
              <a:srgbClr val="667C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395A4198-FA5F-F861-207A-DD09D0D79BDE}"/>
              </a:ext>
            </a:extLst>
          </p:cNvPr>
          <p:cNvSpPr txBox="1"/>
          <p:nvPr/>
        </p:nvSpPr>
        <p:spPr>
          <a:xfrm>
            <a:off x="655320" y="320040"/>
            <a:ext cx="1088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rgbClr val="667C6B"/>
                </a:solidFill>
              </a:rPr>
              <a:t>05 – PASOS Y CALORÍAS                                                                                                                 BELLABEAT ▪ DATA ANALYSIS</a:t>
            </a:r>
            <a:endParaRPr lang="es-MX" dirty="0">
              <a:solidFill>
                <a:srgbClr val="667C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737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60A9DE9-6D5C-1D38-806F-84E9887143D0}"/>
              </a:ext>
            </a:extLst>
          </p:cNvPr>
          <p:cNvSpPr txBox="1"/>
          <p:nvPr/>
        </p:nvSpPr>
        <p:spPr>
          <a:xfrm>
            <a:off x="617220" y="868680"/>
            <a:ext cx="101858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>
                <a:latin typeface="Georgia" panose="02040502050405020303" pitchFamily="18" charset="0"/>
              </a:rPr>
              <a:t>El ritmo de actividad a lo largo de la semana</a:t>
            </a: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Los promedios diarios de pasos muestran diferencias entre los días de la semana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920055-D124-29F0-A13F-0F3FA1BED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" y="2206228"/>
            <a:ext cx="7566183" cy="378309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E0F1465-7417-B1C7-ADB7-2F92EDBF35F0}"/>
              </a:ext>
            </a:extLst>
          </p:cNvPr>
          <p:cNvSpPr txBox="1"/>
          <p:nvPr/>
        </p:nvSpPr>
        <p:spPr>
          <a:xfrm>
            <a:off x="8252460" y="2080260"/>
            <a:ext cx="368046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252923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Hallazgo principal</a:t>
            </a:r>
          </a:p>
          <a:p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Sábado y domingo (7,752, 6,607). La diferencia es de aproximadamente </a:t>
            </a:r>
            <a:r>
              <a:rPr lang="es-ES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1,145</a:t>
            </a: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pasos diarios.</a:t>
            </a:r>
          </a:p>
          <a:p>
            <a:endParaRPr lang="es-ES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000" dirty="0">
                <a:solidFill>
                  <a:srgbClr val="252923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¿Qué significa para </a:t>
            </a:r>
            <a:r>
              <a:rPr lang="es-ES" sz="2000" dirty="0" err="1">
                <a:solidFill>
                  <a:srgbClr val="252923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BellaBeat</a:t>
            </a:r>
            <a:r>
              <a:rPr lang="es-ES" sz="2000" dirty="0">
                <a:solidFill>
                  <a:srgbClr val="252923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?</a:t>
            </a:r>
          </a:p>
          <a:p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variación observada sugiere una oportunidad para explorar mensajes y objetivos de actividad adaptados a los hábitos semanales, sin asumir que todas las personas siguen la misma rutina.</a:t>
            </a:r>
            <a:endParaRPr lang="es-MX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2405E1C-6D22-8788-5A51-F4D2CBAFAE72}"/>
              </a:ext>
            </a:extLst>
          </p:cNvPr>
          <p:cNvSpPr txBox="1"/>
          <p:nvPr/>
        </p:nvSpPr>
        <p:spPr>
          <a:xfrm>
            <a:off x="6019801" y="6305079"/>
            <a:ext cx="587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06/10</a:t>
            </a:r>
            <a:endParaRPr lang="es-MX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04BDC78-70E0-F16C-A9BE-D1FBDC6F6076}"/>
              </a:ext>
            </a:extLst>
          </p:cNvPr>
          <p:cNvSpPr txBox="1"/>
          <p:nvPr/>
        </p:nvSpPr>
        <p:spPr>
          <a:xfrm>
            <a:off x="655320" y="320040"/>
            <a:ext cx="1088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rgbClr val="667C6B"/>
                </a:solidFill>
              </a:rPr>
              <a:t>06 – ACTIVIDAD                                                                                                                              BELLABEAT ▪ DATA ANALYSIS</a:t>
            </a:r>
            <a:endParaRPr lang="es-MX" dirty="0">
              <a:solidFill>
                <a:srgbClr val="667C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984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0DED848-F500-BCFD-41C5-8B2102CBC80F}"/>
              </a:ext>
            </a:extLst>
          </p:cNvPr>
          <p:cNvSpPr txBox="1"/>
          <p:nvPr/>
        </p:nvSpPr>
        <p:spPr>
          <a:xfrm>
            <a:off x="342900" y="771953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latin typeface="Georgia" panose="02040502050405020303" pitchFamily="18" charset="0"/>
              </a:rPr>
              <a:t>Más movimiento, menos tiempo sedentario</a:t>
            </a:r>
          </a:p>
          <a:p>
            <a:r>
              <a:rPr lang="es-ES" sz="2800" dirty="0">
                <a:solidFill>
                  <a:srgbClr val="252923"/>
                </a:solidFill>
              </a:rPr>
              <a:t>Los datos muestran una asociación negativa entre los pasos diarios y el tiempo sedentario.</a:t>
            </a:r>
            <a:endParaRPr lang="es-MX" sz="2800" dirty="0">
              <a:solidFill>
                <a:srgbClr val="252923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A76DA3-8887-C8AF-1AE5-9B53D6E770E6}"/>
              </a:ext>
            </a:extLst>
          </p:cNvPr>
          <p:cNvSpPr txBox="1"/>
          <p:nvPr/>
        </p:nvSpPr>
        <p:spPr>
          <a:xfrm>
            <a:off x="342900" y="2539278"/>
            <a:ext cx="43205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252923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Hallazgo principal</a:t>
            </a:r>
          </a:p>
          <a:p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el análisis por usuario, la correlación fue de </a:t>
            </a:r>
            <a:r>
              <a:rPr lang="es-ES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r= -0.411</a:t>
            </a: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aunque los puntos presentan una dispersión considerable.</a:t>
            </a:r>
          </a:p>
          <a:p>
            <a:endParaRPr lang="es-ES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000" dirty="0">
                <a:solidFill>
                  <a:srgbClr val="252923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¿Qué significa para </a:t>
            </a:r>
            <a:r>
              <a:rPr lang="es-ES" sz="2000" dirty="0" err="1">
                <a:solidFill>
                  <a:srgbClr val="252923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BellaBeat</a:t>
            </a:r>
            <a:r>
              <a:rPr lang="es-ES" sz="2000" dirty="0">
                <a:solidFill>
                  <a:srgbClr val="252923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?</a:t>
            </a:r>
          </a:p>
          <a:p>
            <a:r>
              <a:rPr lang="es-ES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BellaBeat</a:t>
            </a: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podría explorar recordatorios flexibles para hacer pausas de movimiento y visualizaciones que ayuden a reconocer los hábitos diarios, permitiendo que cada usuario adapte sus objetivos a su rutina.</a:t>
            </a:r>
            <a:endParaRPr lang="es-MX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6E61F30-1888-840C-DE5E-8AD0FD4357A3}"/>
              </a:ext>
            </a:extLst>
          </p:cNvPr>
          <p:cNvSpPr txBox="1"/>
          <p:nvPr/>
        </p:nvSpPr>
        <p:spPr>
          <a:xfrm>
            <a:off x="6019801" y="6305079"/>
            <a:ext cx="587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07/10</a:t>
            </a:r>
            <a:endParaRPr lang="es-MX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2D3E60B-F347-A9C1-3921-3A202061A93C}"/>
              </a:ext>
            </a:extLst>
          </p:cNvPr>
          <p:cNvSpPr txBox="1"/>
          <p:nvPr/>
        </p:nvSpPr>
        <p:spPr>
          <a:xfrm>
            <a:off x="655320" y="320040"/>
            <a:ext cx="1088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rgbClr val="667C6B"/>
                </a:solidFill>
              </a:rPr>
              <a:t>07 – TIEMPO SEDENTARIO                                                                                                            BELLABEAT ▪ DATA ANALYSIS</a:t>
            </a:r>
            <a:endParaRPr lang="es-MX" dirty="0">
              <a:solidFill>
                <a:srgbClr val="667C6B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79E6A9D-332B-1037-7967-86998AAE1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612" y="2255455"/>
            <a:ext cx="5745888" cy="383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6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9E93D35-1E64-B2B4-478E-3C0D6435BFE0}"/>
              </a:ext>
            </a:extLst>
          </p:cNvPr>
          <p:cNvSpPr txBox="1"/>
          <p:nvPr/>
        </p:nvSpPr>
        <p:spPr>
          <a:xfrm>
            <a:off x="434340" y="662940"/>
            <a:ext cx="960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latin typeface="Georgia" panose="02040502050405020303" pitchFamily="18" charset="0"/>
              </a:rPr>
              <a:t>Convertir los hallazgos en oportunidades</a:t>
            </a:r>
          </a:p>
          <a:p>
            <a:r>
              <a:rPr lang="es-ES" sz="2000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 estrategias para explorar y mejorar la experiencia de los usuarios.</a:t>
            </a:r>
            <a:endParaRPr lang="es-MX" sz="2000" dirty="0">
              <a:solidFill>
                <a:srgbClr val="2529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095172D-0CB9-6203-006E-BAD874972257}"/>
              </a:ext>
            </a:extLst>
          </p:cNvPr>
          <p:cNvSpPr/>
          <p:nvPr/>
        </p:nvSpPr>
        <p:spPr>
          <a:xfrm>
            <a:off x="685800" y="1897381"/>
            <a:ext cx="2880360" cy="3383279"/>
          </a:xfrm>
          <a:prstGeom prst="roundRect">
            <a:avLst/>
          </a:prstGeom>
          <a:solidFill>
            <a:srgbClr val="E8E6DC"/>
          </a:solidFill>
          <a:ln>
            <a:solidFill>
              <a:srgbClr val="E8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8446A1A-274E-6F65-03E9-E49AA16079D2}"/>
              </a:ext>
            </a:extLst>
          </p:cNvPr>
          <p:cNvSpPr/>
          <p:nvPr/>
        </p:nvSpPr>
        <p:spPr>
          <a:xfrm>
            <a:off x="7155180" y="1897380"/>
            <a:ext cx="2880360" cy="3680461"/>
          </a:xfrm>
          <a:prstGeom prst="roundRect">
            <a:avLst/>
          </a:prstGeom>
          <a:solidFill>
            <a:srgbClr val="E8E6DC"/>
          </a:solidFill>
          <a:ln>
            <a:solidFill>
              <a:srgbClr val="E8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3C6D709-51D1-C26D-FEBE-A5FB840173FB}"/>
              </a:ext>
            </a:extLst>
          </p:cNvPr>
          <p:cNvSpPr/>
          <p:nvPr/>
        </p:nvSpPr>
        <p:spPr>
          <a:xfrm>
            <a:off x="3939540" y="1897381"/>
            <a:ext cx="2880360" cy="3680460"/>
          </a:xfrm>
          <a:prstGeom prst="roundRect">
            <a:avLst/>
          </a:prstGeom>
          <a:solidFill>
            <a:srgbClr val="E8E6DC"/>
          </a:solidFill>
          <a:ln>
            <a:solidFill>
              <a:srgbClr val="E8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E52D74-311C-9CF7-3836-CFDE13E8FC75}"/>
              </a:ext>
            </a:extLst>
          </p:cNvPr>
          <p:cNvSpPr txBox="1"/>
          <p:nvPr/>
        </p:nvSpPr>
        <p:spPr>
          <a:xfrm>
            <a:off x="842010" y="2148840"/>
            <a:ext cx="26289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ES" dirty="0">
                <a:solidFill>
                  <a:srgbClr val="667C6B"/>
                </a:solidFill>
              </a:rPr>
              <a:t>Personalización</a:t>
            </a:r>
          </a:p>
          <a:p>
            <a:r>
              <a:rPr lang="es-ES" sz="2000" dirty="0">
                <a:latin typeface="Georgia" panose="02040502050405020303" pitchFamily="18" charset="0"/>
              </a:rPr>
              <a:t>Objetivos adaptados a cada persona</a:t>
            </a:r>
          </a:p>
          <a:p>
            <a:r>
              <a:rPr lang="es-ES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Proponer metas de actividad ajustables según los hábitos y el progreso individual, en lugar de asumir que todos necesitan el mismo objetivo.</a:t>
            </a:r>
            <a:endParaRPr lang="es-MX" dirty="0">
              <a:solidFill>
                <a:srgbClr val="2529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BF1A74C-15E1-563F-8BED-F67E59DB568B}"/>
              </a:ext>
            </a:extLst>
          </p:cNvPr>
          <p:cNvSpPr txBox="1"/>
          <p:nvPr/>
        </p:nvSpPr>
        <p:spPr>
          <a:xfrm>
            <a:off x="4065270" y="2148840"/>
            <a:ext cx="26289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667C6B"/>
                </a:solidFill>
              </a:rPr>
              <a:t>2. Movimiento cotidiano</a:t>
            </a:r>
          </a:p>
          <a:p>
            <a:r>
              <a:rPr lang="es-ES" sz="2000" dirty="0">
                <a:latin typeface="Georgia" panose="02040502050405020303" pitchFamily="18" charset="0"/>
              </a:rPr>
              <a:t>Recordatorios flexibles de movimiento</a:t>
            </a:r>
          </a:p>
          <a:p>
            <a:r>
              <a:rPr lang="es-ES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Explorar notificaciones opcionales para hacer pausas activas o incorporar pequeños momentos de movimiento durante el día.</a:t>
            </a:r>
            <a:endParaRPr lang="es-MX" dirty="0">
              <a:solidFill>
                <a:srgbClr val="2529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B0FF021-CC99-B18B-FFE9-22AFC423CFE2}"/>
              </a:ext>
            </a:extLst>
          </p:cNvPr>
          <p:cNvSpPr txBox="1"/>
          <p:nvPr/>
        </p:nvSpPr>
        <p:spPr>
          <a:xfrm>
            <a:off x="7280910" y="2148840"/>
            <a:ext cx="26289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667C6B"/>
                </a:solidFill>
              </a:rPr>
              <a:t>3. Participación</a:t>
            </a:r>
          </a:p>
          <a:p>
            <a:r>
              <a:rPr lang="es-ES" sz="2000" dirty="0">
                <a:latin typeface="Georgia" panose="02040502050405020303" pitchFamily="18" charset="0"/>
              </a:rPr>
              <a:t>Seguimiento adaptado a los hábitos semanales</a:t>
            </a:r>
          </a:p>
          <a:p>
            <a:r>
              <a:rPr lang="es-ES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mensajes y objetivos que considérenlas variaciones observadas.</a:t>
            </a:r>
          </a:p>
          <a:p>
            <a:r>
              <a:rPr lang="es-ES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usuarios puedan administrar sus preferencias.</a:t>
            </a:r>
            <a:endParaRPr lang="es-MX" dirty="0">
              <a:solidFill>
                <a:srgbClr val="2529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FA5D21F-0815-11A8-F945-7A54204E24FE}"/>
              </a:ext>
            </a:extLst>
          </p:cNvPr>
          <p:cNvSpPr txBox="1"/>
          <p:nvPr/>
        </p:nvSpPr>
        <p:spPr>
          <a:xfrm>
            <a:off x="411479" y="5901452"/>
            <a:ext cx="6408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oportunidad:</a:t>
            </a:r>
            <a:r>
              <a:rPr lang="es-ES" sz="1600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Transformar el seguimiento de la actividad en una experiencia más personal, flexible y útil para la vida cotidiana.</a:t>
            </a:r>
            <a:endParaRPr lang="es-MX" sz="1600" dirty="0">
              <a:solidFill>
                <a:srgbClr val="2529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821245A-54CC-B629-24AA-7ABA3D18DDBE}"/>
              </a:ext>
            </a:extLst>
          </p:cNvPr>
          <p:cNvSpPr txBox="1"/>
          <p:nvPr/>
        </p:nvSpPr>
        <p:spPr>
          <a:xfrm>
            <a:off x="6019801" y="6305079"/>
            <a:ext cx="587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08/10</a:t>
            </a:r>
            <a:endParaRPr lang="es-MX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F45BA77-88EA-8174-5458-090CF09CBA4B}"/>
              </a:ext>
            </a:extLst>
          </p:cNvPr>
          <p:cNvSpPr txBox="1"/>
          <p:nvPr/>
        </p:nvSpPr>
        <p:spPr>
          <a:xfrm>
            <a:off x="655320" y="320040"/>
            <a:ext cx="1088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rgbClr val="667C6B"/>
                </a:solidFill>
              </a:rPr>
              <a:t>08 – Oportunidades                                                                                                                       BELLABEAT ▪ DATA ANALYSIS</a:t>
            </a:r>
            <a:endParaRPr lang="es-MX" dirty="0">
              <a:solidFill>
                <a:srgbClr val="667C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022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C9DF4F7-472A-DE11-DA2F-2610C1E04EA3}"/>
              </a:ext>
            </a:extLst>
          </p:cNvPr>
          <p:cNvSpPr txBox="1"/>
          <p:nvPr/>
        </p:nvSpPr>
        <p:spPr>
          <a:xfrm>
            <a:off x="434340" y="571500"/>
            <a:ext cx="11292840" cy="164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latin typeface="Georgia" panose="02040502050405020303" pitchFamily="18" charset="0"/>
              </a:rPr>
              <a:t>Comprender los hábitos para diseñar mejores experiencias</a:t>
            </a:r>
          </a:p>
          <a:p>
            <a:r>
              <a:rPr lang="es-ES" sz="2000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datos ofrecen oportunidades para explorar una experiencia de bienestar más personalizada.</a:t>
            </a:r>
            <a:endParaRPr lang="es-MX" sz="2000" dirty="0">
              <a:solidFill>
                <a:srgbClr val="2529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929333F-7FB7-CC51-5CDD-05FEFD11FDEA}"/>
              </a:ext>
            </a:extLst>
          </p:cNvPr>
          <p:cNvSpPr/>
          <p:nvPr/>
        </p:nvSpPr>
        <p:spPr>
          <a:xfrm>
            <a:off x="640080" y="2251710"/>
            <a:ext cx="10355580" cy="1257300"/>
          </a:xfrm>
          <a:prstGeom prst="roundRect">
            <a:avLst/>
          </a:prstGeom>
          <a:solidFill>
            <a:srgbClr val="E8E6DC"/>
          </a:solidFill>
          <a:ln>
            <a:solidFill>
              <a:srgbClr val="E8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75D7188-239F-7B96-FF60-ADD3BDE53C75}"/>
              </a:ext>
            </a:extLst>
          </p:cNvPr>
          <p:cNvSpPr txBox="1"/>
          <p:nvPr/>
        </p:nvSpPr>
        <p:spPr>
          <a:xfrm>
            <a:off x="800100" y="2404408"/>
            <a:ext cx="96240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ES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movimiento cotidiano importa</a:t>
            </a: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La actividad ligera registró un promedio de 188.10 minutos diarios, por encima de la actividad moderada y muy activa.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F11037E-5AF7-677B-3BEB-B6094CF5FBF8}"/>
              </a:ext>
            </a:extLst>
          </p:cNvPr>
          <p:cNvSpPr/>
          <p:nvPr/>
        </p:nvSpPr>
        <p:spPr>
          <a:xfrm>
            <a:off x="640080" y="3661708"/>
            <a:ext cx="10355580" cy="1023283"/>
          </a:xfrm>
          <a:prstGeom prst="roundRect">
            <a:avLst/>
          </a:prstGeom>
          <a:solidFill>
            <a:srgbClr val="E8E6DC"/>
          </a:solidFill>
          <a:ln>
            <a:solidFill>
              <a:srgbClr val="E8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41971D5-1FE8-0D14-AA0C-7EF731BACF33}"/>
              </a:ext>
            </a:extLst>
          </p:cNvPr>
          <p:cNvSpPr/>
          <p:nvPr/>
        </p:nvSpPr>
        <p:spPr>
          <a:xfrm>
            <a:off x="640080" y="4837689"/>
            <a:ext cx="10355580" cy="1257300"/>
          </a:xfrm>
          <a:prstGeom prst="roundRect">
            <a:avLst/>
          </a:prstGeom>
          <a:solidFill>
            <a:srgbClr val="E8E6DC"/>
          </a:solidFill>
          <a:ln>
            <a:solidFill>
              <a:srgbClr val="E8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B6982AF-A4CD-9CFF-147B-6FDECBF09EE5}"/>
              </a:ext>
            </a:extLst>
          </p:cNvPr>
          <p:cNvSpPr txBox="1"/>
          <p:nvPr/>
        </p:nvSpPr>
        <p:spPr>
          <a:xfrm>
            <a:off x="800100" y="3604558"/>
            <a:ext cx="96240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Los patrones varían entre usuarios</a:t>
            </a: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Los promedios de pasos y el tiempo sedentario mostraron diferencias, lo que invita a explorar objetivos más personalizados.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87AE5B-81CC-92DD-59ED-3FD974B8C25C}"/>
              </a:ext>
            </a:extLst>
          </p:cNvPr>
          <p:cNvSpPr txBox="1"/>
          <p:nvPr/>
        </p:nvSpPr>
        <p:spPr>
          <a:xfrm>
            <a:off x="800100" y="4973896"/>
            <a:ext cx="96240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Los datos orientan preguntas, no garantizan resultados</a:t>
            </a: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Las asociaciones observadas pueden ayudar a formular estrategias, pero deben validarse con usuarios reales.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3D3BB48-E438-8EBF-C0F4-53E2B196BA8B}"/>
              </a:ext>
            </a:extLst>
          </p:cNvPr>
          <p:cNvSpPr txBox="1"/>
          <p:nvPr/>
        </p:nvSpPr>
        <p:spPr>
          <a:xfrm>
            <a:off x="6019801" y="6305079"/>
            <a:ext cx="587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10/10</a:t>
            </a:r>
            <a:endParaRPr lang="es-MX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8FBED6C-133C-F310-9D39-F47B631B408F}"/>
              </a:ext>
            </a:extLst>
          </p:cNvPr>
          <p:cNvSpPr txBox="1"/>
          <p:nvPr/>
        </p:nvSpPr>
        <p:spPr>
          <a:xfrm>
            <a:off x="655320" y="320040"/>
            <a:ext cx="1088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rgbClr val="667C6B"/>
                </a:solidFill>
              </a:rPr>
              <a:t>09 -  MEJORAR LAS EXPERIENCIAS                                                                                               BELLABEAT ▪ DATA ANALYSIS</a:t>
            </a:r>
            <a:endParaRPr lang="es-MX" dirty="0">
              <a:solidFill>
                <a:srgbClr val="667C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014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018E50-098E-0297-74FE-B9785F849682}"/>
              </a:ext>
            </a:extLst>
          </p:cNvPr>
          <p:cNvSpPr txBox="1"/>
          <p:nvPr/>
        </p:nvSpPr>
        <p:spPr>
          <a:xfrm>
            <a:off x="1074420" y="1097280"/>
            <a:ext cx="978408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Georgia" panose="02040502050405020303" pitchFamily="18" charset="0"/>
              </a:rPr>
              <a:t>¿Qué sigue?</a:t>
            </a:r>
          </a:p>
          <a:p>
            <a:endParaRPr lang="es-ES" sz="2800" dirty="0">
              <a:latin typeface="Georgia" panose="02040502050405020303" pitchFamily="18" charset="0"/>
            </a:endParaRPr>
          </a:p>
          <a:p>
            <a:pPr marL="342900" indent="-342900">
              <a:buAutoNum type="arabicPeriod"/>
            </a:pPr>
            <a:r>
              <a:rPr lang="es-ES" sz="2000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objetivos personalizados y recordatorios opcionales.</a:t>
            </a:r>
          </a:p>
          <a:p>
            <a:pPr marL="342900" indent="-342900">
              <a:buAutoNum type="arabicPeriod"/>
            </a:pPr>
            <a:endParaRPr lang="es-ES" sz="2000" dirty="0">
              <a:solidFill>
                <a:srgbClr val="2529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s-ES" sz="2000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Medir la participación y el uso de las funciones.</a:t>
            </a:r>
          </a:p>
          <a:p>
            <a:pPr marL="342900" indent="-342900">
              <a:buAutoNum type="arabicPeriod"/>
            </a:pPr>
            <a:endParaRPr lang="es-ES" sz="2000" dirty="0">
              <a:solidFill>
                <a:srgbClr val="2529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s-ES" sz="2000" dirty="0">
                <a:solidFill>
                  <a:srgbClr val="252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Evaluar los resultados con nuevos datos y comentarios de usuarios reales</a:t>
            </a:r>
            <a:endParaRPr lang="es-MX" sz="2000" dirty="0">
              <a:solidFill>
                <a:srgbClr val="2529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D94F47-3789-95F5-A48D-55BDB2A4621A}"/>
              </a:ext>
            </a:extLst>
          </p:cNvPr>
          <p:cNvSpPr txBox="1"/>
          <p:nvPr/>
        </p:nvSpPr>
        <p:spPr>
          <a:xfrm>
            <a:off x="1074420" y="4251960"/>
            <a:ext cx="10287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i="1" dirty="0">
                <a:solidFill>
                  <a:srgbClr val="667C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“Los datos no solo muestran cuánto nos movemos; ayudan a descubrir cómo diseñar experiencias que se adapten mejor a las personas”</a:t>
            </a:r>
            <a:endParaRPr lang="es-MX" sz="2800" i="1" dirty="0">
              <a:solidFill>
                <a:srgbClr val="667C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406E5D-8997-9B6A-D675-4322A4A8BB72}"/>
              </a:ext>
            </a:extLst>
          </p:cNvPr>
          <p:cNvSpPr txBox="1"/>
          <p:nvPr/>
        </p:nvSpPr>
        <p:spPr>
          <a:xfrm>
            <a:off x="6019801" y="6305079"/>
            <a:ext cx="587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10/10</a:t>
            </a:r>
            <a:endParaRPr lang="es-MX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081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885</Words>
  <Application>Microsoft Office PowerPoint</Application>
  <PresentationFormat>Panorámica</PresentationFormat>
  <Paragraphs>113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Tema de Office</vt:lpstr>
      <vt:lpstr>Presentación de PowerPoint</vt:lpstr>
      <vt:lpstr>02-CONTEXTO       BELLABEAT · DATA ANALYSYS    El reto empresarial Convertir datos de actividad en oportunidades de crecimiento.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Linda</dc:creator>
  <cp:lastModifiedBy>Linda</cp:lastModifiedBy>
  <cp:revision>5</cp:revision>
  <dcterms:created xsi:type="dcterms:W3CDTF">2026-10-13T17:59:36Z</dcterms:created>
  <dcterms:modified xsi:type="dcterms:W3CDTF">2026-10-14T19:07:31Z</dcterms:modified>
</cp:coreProperties>
</file>